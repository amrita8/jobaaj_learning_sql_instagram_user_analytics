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7" r:id="rId3"/>
    <p:sldId id="268" r:id="rId4"/>
    <p:sldId id="269" r:id="rId5"/>
    <p:sldId id="259" r:id="rId6"/>
    <p:sldId id="261" r:id="rId7"/>
    <p:sldId id="262" r:id="rId8"/>
    <p:sldId id="263" r:id="rId9"/>
    <p:sldId id="264" r:id="rId10"/>
    <p:sldId id="270" r:id="rId11"/>
    <p:sldId id="265" r:id="rId12"/>
    <p:sldId id="266" r:id="rId13"/>
    <p:sldId id="272" r:id="rId14"/>
    <p:sldId id="273"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82BC49-56D6-4C9F-922C-1DF801A45537}" type="datetimeFigureOut">
              <a:rPr lang="en-US" smtClean="0"/>
              <a:t>6/14/2024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828C0B-977F-4BCF-80B3-EB80CC3F215E}" type="slidenum">
              <a:rPr lang="en-US" smtClean="0"/>
              <a:t>‹#›</a:t>
            </a:fld>
            <a:endParaRPr lang="en-US"/>
          </a:p>
        </p:txBody>
      </p:sp>
    </p:spTree>
    <p:extLst>
      <p:ext uri="{BB962C8B-B14F-4D97-AF65-F5344CB8AC3E}">
        <p14:creationId xmlns:p14="http://schemas.microsoft.com/office/powerpoint/2010/main" val="152752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828C0B-977F-4BCF-80B3-EB80CC3F215E}" type="slidenum">
              <a:rPr lang="en-US" smtClean="0"/>
              <a:t>13</a:t>
            </a:fld>
            <a:endParaRPr lang="en-US"/>
          </a:p>
        </p:txBody>
      </p:sp>
    </p:spTree>
    <p:extLst>
      <p:ext uri="{BB962C8B-B14F-4D97-AF65-F5344CB8AC3E}">
        <p14:creationId xmlns:p14="http://schemas.microsoft.com/office/powerpoint/2010/main" val="1504050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CAD55-282D-36AF-8D77-2AE7E7A1E0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944F39-BD5E-0BCD-B39F-6635E8C007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7DE5A0-49D8-969C-09F5-BF16189A016F}"/>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5" name="Footer Placeholder 4">
            <a:extLst>
              <a:ext uri="{FF2B5EF4-FFF2-40B4-BE49-F238E27FC236}">
                <a16:creationId xmlns:a16="http://schemas.microsoft.com/office/drawing/2014/main" id="{25996C11-9780-C8E6-11E9-7E32E2598A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A0E8D3-A590-4F89-7589-87434D91BA70}"/>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4215076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79813-C2D3-F0CB-D133-5B23B519AD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7DFF2A-98D4-7EF1-4666-99E8089ED5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A156D1-307C-7BE6-A654-D6BC5E311858}"/>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5" name="Footer Placeholder 4">
            <a:extLst>
              <a:ext uri="{FF2B5EF4-FFF2-40B4-BE49-F238E27FC236}">
                <a16:creationId xmlns:a16="http://schemas.microsoft.com/office/drawing/2014/main" id="{10BC5555-97C2-BA0C-BA94-70E579B41E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CAAD9-28E5-160A-D3AB-397B6CA7F529}"/>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3671147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6CF2C-092B-5BD5-3A84-A34B7095EC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FA30C5-FE29-90EF-BB7A-F44E7E3FF1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A3F1CE-EEED-6DB7-44C8-BB3DD3AEFAE6}"/>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5" name="Footer Placeholder 4">
            <a:extLst>
              <a:ext uri="{FF2B5EF4-FFF2-40B4-BE49-F238E27FC236}">
                <a16:creationId xmlns:a16="http://schemas.microsoft.com/office/drawing/2014/main" id="{BACAAFAE-D40D-08B7-DA4D-8DAD20FF53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17A6B-3E76-07BF-DA79-5CFAB4D0E967}"/>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339895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4FD35-0CF7-3676-0394-BAE67A11AF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E8D927-0DA1-8719-5AAB-6EE8B43CE3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0BFD07-FAA3-505C-4898-8D067027E8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CB004C-46AA-F69F-4B22-8AD676B28438}"/>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6" name="Footer Placeholder 5">
            <a:extLst>
              <a:ext uri="{FF2B5EF4-FFF2-40B4-BE49-F238E27FC236}">
                <a16:creationId xmlns:a16="http://schemas.microsoft.com/office/drawing/2014/main" id="{C8EE7AD9-ADF7-F68E-7D0E-12B363CE5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6B4A57-43E0-2217-9347-1622C5A16542}"/>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788493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E53A4-5789-CF7F-57E5-F1E933C5EC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FD1AB8-FB4C-3941-9ACC-6BDA7000C0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FAF24A-1E00-B77A-2757-637F13AFF3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94BE34-3248-98FA-2976-D3D09CD0A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CB5F94-219D-FF6B-1EFB-2084EF3F8C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936AFB-9875-3DAB-B704-D4A08B2FC16A}"/>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8" name="Footer Placeholder 7">
            <a:extLst>
              <a:ext uri="{FF2B5EF4-FFF2-40B4-BE49-F238E27FC236}">
                <a16:creationId xmlns:a16="http://schemas.microsoft.com/office/drawing/2014/main" id="{8749F903-86FA-5F26-BAFB-F78E0F775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0371CC-539C-CE23-1D49-143B671B12BF}"/>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1339835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8D64A-E93E-DD3E-C351-E3F8557E1E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CAB71A8-1749-00E9-630D-6F29BDC62532}"/>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4" name="Footer Placeholder 3">
            <a:extLst>
              <a:ext uri="{FF2B5EF4-FFF2-40B4-BE49-F238E27FC236}">
                <a16:creationId xmlns:a16="http://schemas.microsoft.com/office/drawing/2014/main" id="{6D575DA2-1B06-AFA0-F6CE-8932CA503C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196161-14CF-6E42-1332-0D3B1043954C}"/>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1690654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283DF1-AA74-FF6A-3014-97575795AF23}"/>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3" name="Footer Placeholder 2">
            <a:extLst>
              <a:ext uri="{FF2B5EF4-FFF2-40B4-BE49-F238E27FC236}">
                <a16:creationId xmlns:a16="http://schemas.microsoft.com/office/drawing/2014/main" id="{C277651E-AD9F-E7EB-B968-A82F3F04AD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E70E9E-C1FB-86AB-2E38-A64E69099834}"/>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309105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583B-E96E-4E7A-5A45-2EBD03AAA1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66B144-EF9F-207D-F6D2-B7490334E1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D04004-8C13-B9DC-0890-61AA3471B2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6F499C-8912-D644-C421-7462D11F2855}"/>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6" name="Footer Placeholder 5">
            <a:extLst>
              <a:ext uri="{FF2B5EF4-FFF2-40B4-BE49-F238E27FC236}">
                <a16:creationId xmlns:a16="http://schemas.microsoft.com/office/drawing/2014/main" id="{4823DC45-71A6-1511-CAC7-7EF9F772E3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78AD49-09B7-5892-3931-1CF7BD03003A}"/>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3333421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E002-892D-84F2-8165-C178132C76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1BBEF3-E866-BA96-9758-1C3C449C52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E23A1A-E53D-4989-FE98-E60476F645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FA22AB-92C3-CD4C-B61A-F63780379577}"/>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6" name="Footer Placeholder 5">
            <a:extLst>
              <a:ext uri="{FF2B5EF4-FFF2-40B4-BE49-F238E27FC236}">
                <a16:creationId xmlns:a16="http://schemas.microsoft.com/office/drawing/2014/main" id="{31E174CB-6BF5-17F7-3469-E182311EF0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3E340-C6D7-54CF-E047-EC7CA0164CDB}"/>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4223165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D5B47-818E-1016-585E-27BBC7D7B9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EC3B42-019E-BAE6-32F7-95539844D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E2F9E-F48D-A5E1-E7ED-59E6DE209E38}"/>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5" name="Footer Placeholder 4">
            <a:extLst>
              <a:ext uri="{FF2B5EF4-FFF2-40B4-BE49-F238E27FC236}">
                <a16:creationId xmlns:a16="http://schemas.microsoft.com/office/drawing/2014/main" id="{6E9E56AD-567A-9BF3-F06A-8A7CF3E738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AAFD9-2565-9A54-7664-7DDBC0CFEBCA}"/>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3242773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DB5DBF-C964-AB72-C172-0DDD223E64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1BA3BC-BC86-A267-5686-F42A1C7C70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934A4-EB94-1101-32FF-D4AB6FF8D907}"/>
              </a:ext>
            </a:extLst>
          </p:cNvPr>
          <p:cNvSpPr>
            <a:spLocks noGrp="1"/>
          </p:cNvSpPr>
          <p:nvPr>
            <p:ph type="dt" sz="half" idx="10"/>
          </p:nvPr>
        </p:nvSpPr>
        <p:spPr/>
        <p:txBody>
          <a:bodyPr/>
          <a:lstStyle/>
          <a:p>
            <a:fld id="{AE9F695F-B69D-414A-9966-0F4E87490AB7}" type="datetimeFigureOut">
              <a:rPr lang="en-US" smtClean="0"/>
              <a:t>6/14/2024</a:t>
            </a:fld>
            <a:endParaRPr lang="en-US"/>
          </a:p>
        </p:txBody>
      </p:sp>
      <p:sp>
        <p:nvSpPr>
          <p:cNvPr id="5" name="Footer Placeholder 4">
            <a:extLst>
              <a:ext uri="{FF2B5EF4-FFF2-40B4-BE49-F238E27FC236}">
                <a16:creationId xmlns:a16="http://schemas.microsoft.com/office/drawing/2014/main" id="{C1E077C3-1F1D-DBFC-351B-7417C607F7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A7B7B-8F03-5511-DA5B-9F8D0016E85E}"/>
              </a:ext>
            </a:extLst>
          </p:cNvPr>
          <p:cNvSpPr>
            <a:spLocks noGrp="1"/>
          </p:cNvSpPr>
          <p:nvPr>
            <p:ph type="sldNum" sz="quarter" idx="12"/>
          </p:nvPr>
        </p:nvSpPr>
        <p:spPr/>
        <p:txBody>
          <a:bodyPr/>
          <a:lstStyle/>
          <a:p>
            <a:fld id="{AAE2C3F8-277E-407B-95C1-74EBA51BE17A}" type="slidenum">
              <a:rPr lang="en-US" smtClean="0"/>
              <a:t>‹#›</a:t>
            </a:fld>
            <a:endParaRPr lang="en-US"/>
          </a:p>
        </p:txBody>
      </p:sp>
    </p:spTree>
    <p:extLst>
      <p:ext uri="{BB962C8B-B14F-4D97-AF65-F5344CB8AC3E}">
        <p14:creationId xmlns:p14="http://schemas.microsoft.com/office/powerpoint/2010/main" val="3531359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F4961D-6D02-ED44-8012-CF8B3A6755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D346CA-129A-D20B-48C5-DBACA85C11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E5F953-6F9B-20F5-E347-D1E3CEDF43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9F695F-B69D-414A-9966-0F4E87490AB7}" type="datetimeFigureOut">
              <a:rPr lang="en-US" smtClean="0"/>
              <a:t>6/14/2024</a:t>
            </a:fld>
            <a:endParaRPr lang="en-US"/>
          </a:p>
        </p:txBody>
      </p:sp>
      <p:sp>
        <p:nvSpPr>
          <p:cNvPr id="5" name="Footer Placeholder 4">
            <a:extLst>
              <a:ext uri="{FF2B5EF4-FFF2-40B4-BE49-F238E27FC236}">
                <a16:creationId xmlns:a16="http://schemas.microsoft.com/office/drawing/2014/main" id="{83875DFC-CF95-9A22-6B74-0E31B7BA7A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302473-39C7-63F6-5F27-C00D3FD6CF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E2C3F8-277E-407B-95C1-74EBA51BE17A}" type="slidenum">
              <a:rPr lang="en-US" smtClean="0"/>
              <a:t>‹#›</a:t>
            </a:fld>
            <a:endParaRPr lang="en-US"/>
          </a:p>
        </p:txBody>
      </p:sp>
    </p:spTree>
    <p:extLst>
      <p:ext uri="{BB962C8B-B14F-4D97-AF65-F5344CB8AC3E}">
        <p14:creationId xmlns:p14="http://schemas.microsoft.com/office/powerpoint/2010/main" val="1398546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F5479-C6D4-45F9-F7B1-61C18010E295}"/>
              </a:ext>
            </a:extLst>
          </p:cNvPr>
          <p:cNvSpPr>
            <a:spLocks noGrp="1"/>
          </p:cNvSpPr>
          <p:nvPr>
            <p:ph type="ctrTitle"/>
          </p:nvPr>
        </p:nvSpPr>
        <p:spPr>
          <a:xfrm>
            <a:off x="1524000" y="1122363"/>
            <a:ext cx="9144000" cy="2715120"/>
          </a:xfrm>
        </p:spPr>
        <p:txBody>
          <a:bodyPr/>
          <a:lstStyle/>
          <a:p>
            <a:r>
              <a:rPr lang="en-US" b="1" i="0" dirty="0">
                <a:solidFill>
                  <a:srgbClr val="3C4858"/>
                </a:solidFill>
                <a:effectLst/>
                <a:highlight>
                  <a:srgbClr val="FFFFFF"/>
                </a:highlight>
                <a:latin typeface="Manrope"/>
              </a:rPr>
              <a:t>Instagram User Analytics</a:t>
            </a:r>
            <a:endParaRPr lang="en-US" dirty="0"/>
          </a:p>
        </p:txBody>
      </p:sp>
    </p:spTree>
    <p:extLst>
      <p:ext uri="{BB962C8B-B14F-4D97-AF65-F5344CB8AC3E}">
        <p14:creationId xmlns:p14="http://schemas.microsoft.com/office/powerpoint/2010/main" val="1207984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A05C5-7403-756E-52F1-68AFA0B20C86}"/>
              </a:ext>
            </a:extLst>
          </p:cNvPr>
          <p:cNvSpPr>
            <a:spLocks noGrp="1"/>
          </p:cNvSpPr>
          <p:nvPr>
            <p:ph type="title"/>
          </p:nvPr>
        </p:nvSpPr>
        <p:spPr>
          <a:xfrm>
            <a:off x="838200" y="365126"/>
            <a:ext cx="10515600" cy="886158"/>
          </a:xfrm>
        </p:spPr>
        <p:txBody>
          <a:bodyPr/>
          <a:lstStyle/>
          <a:p>
            <a:pPr algn="ctr"/>
            <a:r>
              <a:rPr lang="en-US" sz="4400" b="1" i="0" dirty="0">
                <a:solidFill>
                  <a:srgbClr val="8492A6"/>
                </a:solidFill>
                <a:effectLst/>
                <a:highlight>
                  <a:srgbClr val="FFFFFF"/>
                </a:highlight>
                <a:latin typeface="Manrope"/>
              </a:rPr>
              <a:t>Project Description</a:t>
            </a:r>
            <a:endParaRPr lang="en-US" dirty="0"/>
          </a:p>
        </p:txBody>
      </p:sp>
      <p:sp>
        <p:nvSpPr>
          <p:cNvPr id="3" name="Content Placeholder 2">
            <a:extLst>
              <a:ext uri="{FF2B5EF4-FFF2-40B4-BE49-F238E27FC236}">
                <a16:creationId xmlns:a16="http://schemas.microsoft.com/office/drawing/2014/main" id="{C448D6D1-F88D-87BE-0E8D-9BCD5EBA99DE}"/>
              </a:ext>
            </a:extLst>
          </p:cNvPr>
          <p:cNvSpPr>
            <a:spLocks noGrp="1"/>
          </p:cNvSpPr>
          <p:nvPr>
            <p:ph idx="1"/>
          </p:nvPr>
        </p:nvSpPr>
        <p:spPr>
          <a:xfrm>
            <a:off x="838200" y="1379620"/>
            <a:ext cx="10515600" cy="5325980"/>
          </a:xfrm>
        </p:spPr>
        <p:txBody>
          <a:bodyPr>
            <a:noAutofit/>
          </a:bodyPr>
          <a:lstStyle/>
          <a:p>
            <a:pPr marL="0" indent="0">
              <a:buNone/>
            </a:pPr>
            <a:r>
              <a:rPr lang="en-US" sz="2400" dirty="0"/>
              <a:t>This Instagram User Analytics project which is done on MySQL workbench involves analyzing user interactions and engagement with the app to provide valuable insights that can helps the business grow. </a:t>
            </a:r>
            <a:endParaRPr lang="en-US" sz="2400" dirty="0">
              <a:solidFill>
                <a:srgbClr val="8492A6"/>
              </a:solidFill>
              <a:highlight>
                <a:srgbClr val="FFFFFF"/>
              </a:highlight>
              <a:latin typeface="Manrope"/>
            </a:endParaRPr>
          </a:p>
          <a:p>
            <a:pPr marL="0" indent="0">
              <a:buNone/>
            </a:pPr>
            <a:br>
              <a:rPr lang="en-US" sz="2400" dirty="0"/>
            </a:br>
            <a:r>
              <a:rPr lang="en-US" sz="2400" dirty="0"/>
              <a:t>User analysis involves tracking how users engage with a digital product, such as a software application or a mobile app. The insights derived from this analysis can be used by various teams within the business. For example, the marketing team might use these insights to launch a new campaign, the product team might use them to decide on new features to build, and the development team might use them to improve the overall user experience.</a:t>
            </a:r>
          </a:p>
          <a:p>
            <a:pPr marL="0" indent="0">
              <a:buNone/>
            </a:pPr>
            <a:br>
              <a:rPr lang="en-US" sz="2400" dirty="0"/>
            </a:br>
            <a:r>
              <a:rPr lang="en-US" sz="2400" dirty="0"/>
              <a:t>This insights will help the product manager and the rest of the team make informed decisions about the future direction of the Instagram app. These findings could potentially influence the future development of one of the world's most popular social media platforms.</a:t>
            </a:r>
          </a:p>
        </p:txBody>
      </p:sp>
    </p:spTree>
    <p:extLst>
      <p:ext uri="{BB962C8B-B14F-4D97-AF65-F5344CB8AC3E}">
        <p14:creationId xmlns:p14="http://schemas.microsoft.com/office/powerpoint/2010/main" val="1519799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63C5B-E065-8FBE-084C-FEFD3EB185B5}"/>
              </a:ext>
            </a:extLst>
          </p:cNvPr>
          <p:cNvSpPr>
            <a:spLocks noGrp="1"/>
          </p:cNvSpPr>
          <p:nvPr>
            <p:ph type="title"/>
          </p:nvPr>
        </p:nvSpPr>
        <p:spPr>
          <a:xfrm>
            <a:off x="838200" y="365125"/>
            <a:ext cx="10515600" cy="838033"/>
          </a:xfrm>
        </p:spPr>
        <p:txBody>
          <a:bodyPr/>
          <a:lstStyle/>
          <a:p>
            <a:pPr algn="ctr"/>
            <a:r>
              <a:rPr lang="en-US" b="1" dirty="0">
                <a:solidFill>
                  <a:srgbClr val="8492A6"/>
                </a:solidFill>
                <a:highlight>
                  <a:srgbClr val="FFFFFF"/>
                </a:highlight>
                <a:latin typeface="Manrope"/>
              </a:rPr>
              <a:t>Approach</a:t>
            </a:r>
          </a:p>
        </p:txBody>
      </p:sp>
      <p:sp>
        <p:nvSpPr>
          <p:cNvPr id="3" name="Content Placeholder 2">
            <a:extLst>
              <a:ext uri="{FF2B5EF4-FFF2-40B4-BE49-F238E27FC236}">
                <a16:creationId xmlns:a16="http://schemas.microsoft.com/office/drawing/2014/main" id="{73E8CC61-70A3-5BFD-1062-89F6E54F805C}"/>
              </a:ext>
            </a:extLst>
          </p:cNvPr>
          <p:cNvSpPr>
            <a:spLocks noGrp="1"/>
          </p:cNvSpPr>
          <p:nvPr>
            <p:ph idx="1"/>
          </p:nvPr>
        </p:nvSpPr>
        <p:spPr>
          <a:xfrm>
            <a:off x="838200" y="1825625"/>
            <a:ext cx="10515600" cy="962545"/>
          </a:xfrm>
        </p:spPr>
        <p:txBody>
          <a:bodyPr/>
          <a:lstStyle/>
          <a:p>
            <a:pPr marL="0" indent="0">
              <a:buNone/>
            </a:pPr>
            <a:r>
              <a:rPr lang="en-US" dirty="0"/>
              <a:t>The approach towards this project is to analyze the data thoroughly and to understand business problem.</a:t>
            </a:r>
          </a:p>
        </p:txBody>
      </p:sp>
      <p:sp>
        <p:nvSpPr>
          <p:cNvPr id="4" name="Title 1">
            <a:extLst>
              <a:ext uri="{FF2B5EF4-FFF2-40B4-BE49-F238E27FC236}">
                <a16:creationId xmlns:a16="http://schemas.microsoft.com/office/drawing/2014/main" id="{7A775CD9-5924-EC10-C4E8-6C329E191FA6}"/>
              </a:ext>
            </a:extLst>
          </p:cNvPr>
          <p:cNvSpPr txBox="1">
            <a:spLocks/>
          </p:cNvSpPr>
          <p:nvPr/>
        </p:nvSpPr>
        <p:spPr>
          <a:xfrm>
            <a:off x="838200" y="3650814"/>
            <a:ext cx="10515600" cy="8380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8492A6"/>
                </a:solidFill>
                <a:highlight>
                  <a:srgbClr val="FFFFFF"/>
                </a:highlight>
                <a:latin typeface="Manrope"/>
              </a:rPr>
              <a:t>Tech-Stack</a:t>
            </a:r>
            <a:r>
              <a:rPr lang="en-US" b="1" i="0" dirty="0">
                <a:solidFill>
                  <a:srgbClr val="3C4858"/>
                </a:solidFill>
                <a:effectLst/>
                <a:highlight>
                  <a:srgbClr val="FFFFFF"/>
                </a:highlight>
                <a:latin typeface="Manrope"/>
              </a:rPr>
              <a:t> </a:t>
            </a:r>
            <a:r>
              <a:rPr lang="en-US" b="1" dirty="0">
                <a:solidFill>
                  <a:srgbClr val="8492A6"/>
                </a:solidFill>
                <a:highlight>
                  <a:srgbClr val="FFFFFF"/>
                </a:highlight>
                <a:latin typeface="Manrope"/>
              </a:rPr>
              <a:t>Used</a:t>
            </a:r>
          </a:p>
        </p:txBody>
      </p:sp>
      <p:sp>
        <p:nvSpPr>
          <p:cNvPr id="7" name="Content Placeholder 2">
            <a:extLst>
              <a:ext uri="{FF2B5EF4-FFF2-40B4-BE49-F238E27FC236}">
                <a16:creationId xmlns:a16="http://schemas.microsoft.com/office/drawing/2014/main" id="{B6080427-7BD7-3912-5A14-12EF33BF7463}"/>
              </a:ext>
            </a:extLst>
          </p:cNvPr>
          <p:cNvSpPr txBox="1">
            <a:spLocks/>
          </p:cNvSpPr>
          <p:nvPr/>
        </p:nvSpPr>
        <p:spPr>
          <a:xfrm>
            <a:off x="838200" y="4870218"/>
            <a:ext cx="10515600" cy="96254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This project is done in MySQL Workbench 8.0 (Version 8.0.25) for creating queries. And the report is submitted in Power Point Presentation</a:t>
            </a:r>
          </a:p>
        </p:txBody>
      </p:sp>
    </p:spTree>
    <p:extLst>
      <p:ext uri="{BB962C8B-B14F-4D97-AF65-F5344CB8AC3E}">
        <p14:creationId xmlns:p14="http://schemas.microsoft.com/office/powerpoint/2010/main" val="1232077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E5142-02FD-7153-E679-1B7C1AB468EB}"/>
              </a:ext>
            </a:extLst>
          </p:cNvPr>
          <p:cNvSpPr>
            <a:spLocks noGrp="1"/>
          </p:cNvSpPr>
          <p:nvPr>
            <p:ph type="ctrTitle"/>
          </p:nvPr>
        </p:nvSpPr>
        <p:spPr/>
        <p:txBody>
          <a:bodyPr/>
          <a:lstStyle/>
          <a:p>
            <a:r>
              <a:rPr lang="en-US" b="1" dirty="0">
                <a:solidFill>
                  <a:srgbClr val="3C4858"/>
                </a:solidFill>
                <a:highlight>
                  <a:srgbClr val="FFFFFF"/>
                </a:highlight>
                <a:latin typeface="Manrope"/>
              </a:rPr>
              <a:t>A) Marketing Analysis</a:t>
            </a:r>
          </a:p>
        </p:txBody>
      </p:sp>
    </p:spTree>
    <p:extLst>
      <p:ext uri="{BB962C8B-B14F-4D97-AF65-F5344CB8AC3E}">
        <p14:creationId xmlns:p14="http://schemas.microsoft.com/office/powerpoint/2010/main" val="1979863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CDE0F-0F58-A58C-B8CD-306D699F75F4}"/>
              </a:ext>
            </a:extLst>
          </p:cNvPr>
          <p:cNvSpPr>
            <a:spLocks noGrp="1"/>
          </p:cNvSpPr>
          <p:nvPr>
            <p:ph type="title"/>
          </p:nvPr>
        </p:nvSpPr>
        <p:spPr>
          <a:xfrm>
            <a:off x="839788" y="457200"/>
            <a:ext cx="10512424" cy="652072"/>
          </a:xfrm>
        </p:spPr>
        <p:txBody>
          <a:bodyPr>
            <a:normAutofit/>
          </a:bodyPr>
          <a:lstStyle/>
          <a:p>
            <a:pPr algn="ctr"/>
            <a:r>
              <a:rPr lang="en-US" sz="4000" b="1" i="0" dirty="0">
                <a:solidFill>
                  <a:srgbClr val="8492A6"/>
                </a:solidFill>
                <a:effectLst/>
                <a:highlight>
                  <a:srgbClr val="FFFFFF"/>
                </a:highlight>
                <a:latin typeface="Manrope"/>
              </a:rPr>
              <a:t>Loyal User Reward</a:t>
            </a:r>
            <a:endParaRPr lang="en-US" sz="4000" dirty="0"/>
          </a:p>
        </p:txBody>
      </p:sp>
      <p:sp>
        <p:nvSpPr>
          <p:cNvPr id="4" name="Text Placeholder 3">
            <a:extLst>
              <a:ext uri="{FF2B5EF4-FFF2-40B4-BE49-F238E27FC236}">
                <a16:creationId xmlns:a16="http://schemas.microsoft.com/office/drawing/2014/main" id="{EA034177-C427-C04E-F581-3B1439F83D25}"/>
              </a:ext>
            </a:extLst>
          </p:cNvPr>
          <p:cNvSpPr>
            <a:spLocks noGrp="1"/>
          </p:cNvSpPr>
          <p:nvPr>
            <p:ph type="body" sz="half" idx="2"/>
          </p:nvPr>
        </p:nvSpPr>
        <p:spPr>
          <a:xfrm>
            <a:off x="981856" y="1319134"/>
            <a:ext cx="10515600" cy="1154243"/>
          </a:xfrm>
        </p:spPr>
        <p:txBody>
          <a:bodyPr>
            <a:noAutofit/>
          </a:bodyPr>
          <a:lstStyle/>
          <a:p>
            <a:r>
              <a:rPr lang="en-US" sz="2400" dirty="0"/>
              <a:t>The marketing team wants to reward the most loyal users, i.e., those who have been using the platform for the longest time.</a:t>
            </a:r>
          </a:p>
          <a:p>
            <a:pPr marL="342900" indent="-342900">
              <a:buFont typeface="Arial" panose="020B0604020202020204" pitchFamily="34" charset="0"/>
              <a:buChar char="•"/>
            </a:pPr>
            <a:r>
              <a:rPr lang="en-US" sz="2400" dirty="0"/>
              <a:t>Highlighting top 5 oldest users name of Instagram.</a:t>
            </a:r>
          </a:p>
        </p:txBody>
      </p:sp>
      <p:pic>
        <p:nvPicPr>
          <p:cNvPr id="5" name="Content Placeholder 3">
            <a:extLst>
              <a:ext uri="{FF2B5EF4-FFF2-40B4-BE49-F238E27FC236}">
                <a16:creationId xmlns:a16="http://schemas.microsoft.com/office/drawing/2014/main" id="{6E62DCDC-C484-E37D-07F2-A2A80F26A8BD}"/>
              </a:ext>
            </a:extLst>
          </p:cNvPr>
          <p:cNvPicPr>
            <a:picLocks noGrp="1" noChangeAspect="1"/>
          </p:cNvPicPr>
          <p:nvPr>
            <p:ph idx="1"/>
          </p:nvPr>
        </p:nvPicPr>
        <p:blipFill>
          <a:blip r:embed="rId2"/>
          <a:stretch>
            <a:fillRect/>
          </a:stretch>
        </p:blipFill>
        <p:spPr>
          <a:xfrm>
            <a:off x="839788" y="2983042"/>
            <a:ext cx="10515600" cy="3237875"/>
          </a:xfrm>
          <a:prstGeom prst="rect">
            <a:avLst/>
          </a:prstGeom>
        </p:spPr>
      </p:pic>
    </p:spTree>
    <p:extLst>
      <p:ext uri="{BB962C8B-B14F-4D97-AF65-F5344CB8AC3E}">
        <p14:creationId xmlns:p14="http://schemas.microsoft.com/office/powerpoint/2010/main" val="2770799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CDE0F-0F58-A58C-B8CD-306D699F75F4}"/>
              </a:ext>
            </a:extLst>
          </p:cNvPr>
          <p:cNvSpPr>
            <a:spLocks noGrp="1"/>
          </p:cNvSpPr>
          <p:nvPr>
            <p:ph type="title"/>
          </p:nvPr>
        </p:nvSpPr>
        <p:spPr>
          <a:xfrm>
            <a:off x="839788" y="457200"/>
            <a:ext cx="10512424" cy="771993"/>
          </a:xfrm>
        </p:spPr>
        <p:txBody>
          <a:bodyPr>
            <a:normAutofit/>
          </a:bodyPr>
          <a:lstStyle/>
          <a:p>
            <a:pPr algn="ctr"/>
            <a:r>
              <a:rPr lang="en-US" sz="4000" b="1" dirty="0">
                <a:solidFill>
                  <a:srgbClr val="8492A6"/>
                </a:solidFill>
                <a:highlight>
                  <a:srgbClr val="FFFFFF"/>
                </a:highlight>
                <a:latin typeface="Manrope"/>
              </a:rPr>
              <a:t>Inactive</a:t>
            </a:r>
            <a:r>
              <a:rPr lang="en-US" sz="2400" b="1" i="0" dirty="0">
                <a:solidFill>
                  <a:srgbClr val="8492A6"/>
                </a:solidFill>
                <a:effectLst/>
                <a:highlight>
                  <a:srgbClr val="FFFFFF"/>
                </a:highlight>
                <a:latin typeface="Manrope"/>
              </a:rPr>
              <a:t> </a:t>
            </a:r>
            <a:r>
              <a:rPr lang="en-US" sz="4000" b="1" dirty="0">
                <a:solidFill>
                  <a:srgbClr val="8492A6"/>
                </a:solidFill>
                <a:highlight>
                  <a:srgbClr val="FFFFFF"/>
                </a:highlight>
                <a:latin typeface="Manrope"/>
              </a:rPr>
              <a:t>User</a:t>
            </a:r>
            <a:r>
              <a:rPr lang="en-US" sz="2400" b="1" i="0" dirty="0">
                <a:solidFill>
                  <a:srgbClr val="8492A6"/>
                </a:solidFill>
                <a:effectLst/>
                <a:highlight>
                  <a:srgbClr val="FFFFFF"/>
                </a:highlight>
                <a:latin typeface="Manrope"/>
              </a:rPr>
              <a:t> </a:t>
            </a:r>
            <a:r>
              <a:rPr lang="en-US" sz="4000" b="1" dirty="0">
                <a:solidFill>
                  <a:srgbClr val="8492A6"/>
                </a:solidFill>
                <a:highlight>
                  <a:srgbClr val="FFFFFF"/>
                </a:highlight>
                <a:latin typeface="Manrope"/>
              </a:rPr>
              <a:t>Engagement</a:t>
            </a:r>
          </a:p>
        </p:txBody>
      </p:sp>
      <p:sp>
        <p:nvSpPr>
          <p:cNvPr id="4" name="Text Placeholder 3">
            <a:extLst>
              <a:ext uri="{FF2B5EF4-FFF2-40B4-BE49-F238E27FC236}">
                <a16:creationId xmlns:a16="http://schemas.microsoft.com/office/drawing/2014/main" id="{EA034177-C427-C04E-F581-3B1439F83D25}"/>
              </a:ext>
            </a:extLst>
          </p:cNvPr>
          <p:cNvSpPr>
            <a:spLocks noGrp="1"/>
          </p:cNvSpPr>
          <p:nvPr>
            <p:ph type="body" sz="half" idx="2"/>
          </p:nvPr>
        </p:nvSpPr>
        <p:spPr>
          <a:xfrm>
            <a:off x="981856" y="1394085"/>
            <a:ext cx="10515600" cy="1349115"/>
          </a:xfrm>
        </p:spPr>
        <p:txBody>
          <a:bodyPr>
            <a:noAutofit/>
          </a:bodyPr>
          <a:lstStyle/>
          <a:p>
            <a:r>
              <a:rPr lang="en-US" sz="2400" dirty="0"/>
              <a:t>The team wants to encourage inactive users to start posting by sending them promotional emails.</a:t>
            </a:r>
          </a:p>
          <a:p>
            <a:r>
              <a:rPr lang="en-US" sz="2400" dirty="0"/>
              <a:t>Highlighting inactive users of Instagram.</a:t>
            </a:r>
          </a:p>
        </p:txBody>
      </p:sp>
      <p:pic>
        <p:nvPicPr>
          <p:cNvPr id="6" name="Picture 5">
            <a:extLst>
              <a:ext uri="{FF2B5EF4-FFF2-40B4-BE49-F238E27FC236}">
                <a16:creationId xmlns:a16="http://schemas.microsoft.com/office/drawing/2014/main" id="{9B914839-5186-75CF-4FCB-E40269A54712}"/>
              </a:ext>
            </a:extLst>
          </p:cNvPr>
          <p:cNvPicPr>
            <a:picLocks noChangeAspect="1"/>
          </p:cNvPicPr>
          <p:nvPr/>
        </p:nvPicPr>
        <p:blipFill>
          <a:blip r:embed="rId2"/>
          <a:stretch>
            <a:fillRect/>
          </a:stretch>
        </p:blipFill>
        <p:spPr>
          <a:xfrm>
            <a:off x="981856" y="2880037"/>
            <a:ext cx="10512424" cy="3835556"/>
          </a:xfrm>
          <a:prstGeom prst="rect">
            <a:avLst/>
          </a:prstGeom>
        </p:spPr>
      </p:pic>
    </p:spTree>
    <p:extLst>
      <p:ext uri="{BB962C8B-B14F-4D97-AF65-F5344CB8AC3E}">
        <p14:creationId xmlns:p14="http://schemas.microsoft.com/office/powerpoint/2010/main" val="4170359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CDE0F-0F58-A58C-B8CD-306D699F75F4}"/>
              </a:ext>
            </a:extLst>
          </p:cNvPr>
          <p:cNvSpPr>
            <a:spLocks noGrp="1"/>
          </p:cNvSpPr>
          <p:nvPr>
            <p:ph type="title"/>
          </p:nvPr>
        </p:nvSpPr>
        <p:spPr>
          <a:xfrm>
            <a:off x="839788" y="457200"/>
            <a:ext cx="10512424" cy="771993"/>
          </a:xfrm>
        </p:spPr>
        <p:txBody>
          <a:bodyPr>
            <a:normAutofit/>
          </a:bodyPr>
          <a:lstStyle/>
          <a:p>
            <a:pPr algn="ctr"/>
            <a:r>
              <a:rPr lang="en-US" sz="4000" b="1" dirty="0">
                <a:solidFill>
                  <a:srgbClr val="8492A6"/>
                </a:solidFill>
                <a:highlight>
                  <a:srgbClr val="FFFFFF"/>
                </a:highlight>
                <a:latin typeface="Manrope"/>
              </a:rPr>
              <a:t>Contest Winner Declaration</a:t>
            </a:r>
          </a:p>
        </p:txBody>
      </p:sp>
      <p:sp>
        <p:nvSpPr>
          <p:cNvPr id="4" name="Text Placeholder 3">
            <a:extLst>
              <a:ext uri="{FF2B5EF4-FFF2-40B4-BE49-F238E27FC236}">
                <a16:creationId xmlns:a16="http://schemas.microsoft.com/office/drawing/2014/main" id="{EA034177-C427-C04E-F581-3B1439F83D25}"/>
              </a:ext>
            </a:extLst>
          </p:cNvPr>
          <p:cNvSpPr>
            <a:spLocks noGrp="1"/>
          </p:cNvSpPr>
          <p:nvPr>
            <p:ph type="body" sz="half" idx="2"/>
          </p:nvPr>
        </p:nvSpPr>
        <p:spPr>
          <a:xfrm>
            <a:off x="981856" y="1394085"/>
            <a:ext cx="10515600" cy="1484026"/>
          </a:xfrm>
        </p:spPr>
        <p:txBody>
          <a:bodyPr>
            <a:noAutofit/>
          </a:bodyPr>
          <a:lstStyle/>
          <a:p>
            <a:r>
              <a:rPr lang="en-US" sz="2400" dirty="0"/>
              <a:t>The team has organized a contest where the user with the most likes on a single photo wins.</a:t>
            </a:r>
          </a:p>
          <a:p>
            <a:r>
              <a:rPr lang="en-US" sz="2400" dirty="0"/>
              <a:t>Highlighting the winner of the contest of Instagram.</a:t>
            </a:r>
          </a:p>
        </p:txBody>
      </p:sp>
      <p:pic>
        <p:nvPicPr>
          <p:cNvPr id="5" name="Picture 4">
            <a:extLst>
              <a:ext uri="{FF2B5EF4-FFF2-40B4-BE49-F238E27FC236}">
                <a16:creationId xmlns:a16="http://schemas.microsoft.com/office/drawing/2014/main" id="{C3BBE821-DD60-B1DC-F19B-E148237450F5}"/>
              </a:ext>
            </a:extLst>
          </p:cNvPr>
          <p:cNvPicPr>
            <a:picLocks noChangeAspect="1"/>
          </p:cNvPicPr>
          <p:nvPr/>
        </p:nvPicPr>
        <p:blipFill>
          <a:blip r:embed="rId2"/>
          <a:stretch>
            <a:fillRect/>
          </a:stretch>
        </p:blipFill>
        <p:spPr>
          <a:xfrm>
            <a:off x="1018466" y="3043003"/>
            <a:ext cx="10155067" cy="2615783"/>
          </a:xfrm>
          <a:prstGeom prst="rect">
            <a:avLst/>
          </a:prstGeom>
        </p:spPr>
      </p:pic>
    </p:spTree>
    <p:extLst>
      <p:ext uri="{BB962C8B-B14F-4D97-AF65-F5344CB8AC3E}">
        <p14:creationId xmlns:p14="http://schemas.microsoft.com/office/powerpoint/2010/main" val="3380914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CDE0F-0F58-A58C-B8CD-306D699F75F4}"/>
              </a:ext>
            </a:extLst>
          </p:cNvPr>
          <p:cNvSpPr>
            <a:spLocks noGrp="1"/>
          </p:cNvSpPr>
          <p:nvPr>
            <p:ph type="title"/>
          </p:nvPr>
        </p:nvSpPr>
        <p:spPr>
          <a:xfrm>
            <a:off x="839788" y="457200"/>
            <a:ext cx="10512424" cy="771993"/>
          </a:xfrm>
        </p:spPr>
        <p:txBody>
          <a:bodyPr>
            <a:normAutofit/>
          </a:bodyPr>
          <a:lstStyle/>
          <a:p>
            <a:pPr algn="ctr"/>
            <a:r>
              <a:rPr lang="en-US" sz="4000" b="1" dirty="0">
                <a:solidFill>
                  <a:srgbClr val="8492A6"/>
                </a:solidFill>
                <a:highlight>
                  <a:srgbClr val="FFFFFF"/>
                </a:highlight>
                <a:latin typeface="Manrope"/>
              </a:rPr>
              <a:t>Hashtag</a:t>
            </a:r>
            <a:r>
              <a:rPr lang="en-US" sz="2400" b="1" i="0" dirty="0">
                <a:solidFill>
                  <a:srgbClr val="8492A6"/>
                </a:solidFill>
                <a:effectLst/>
                <a:highlight>
                  <a:srgbClr val="FFFFFF"/>
                </a:highlight>
                <a:latin typeface="Manrope"/>
              </a:rPr>
              <a:t> </a:t>
            </a:r>
            <a:r>
              <a:rPr lang="en-US" sz="4000" b="1" dirty="0">
                <a:solidFill>
                  <a:srgbClr val="8492A6"/>
                </a:solidFill>
                <a:highlight>
                  <a:srgbClr val="FFFFFF"/>
                </a:highlight>
                <a:latin typeface="Manrope"/>
              </a:rPr>
              <a:t>Research</a:t>
            </a:r>
          </a:p>
        </p:txBody>
      </p:sp>
      <p:sp>
        <p:nvSpPr>
          <p:cNvPr id="4" name="Text Placeholder 3">
            <a:extLst>
              <a:ext uri="{FF2B5EF4-FFF2-40B4-BE49-F238E27FC236}">
                <a16:creationId xmlns:a16="http://schemas.microsoft.com/office/drawing/2014/main" id="{EA034177-C427-C04E-F581-3B1439F83D25}"/>
              </a:ext>
            </a:extLst>
          </p:cNvPr>
          <p:cNvSpPr>
            <a:spLocks noGrp="1"/>
          </p:cNvSpPr>
          <p:nvPr>
            <p:ph type="body" sz="half" idx="2"/>
          </p:nvPr>
        </p:nvSpPr>
        <p:spPr>
          <a:xfrm>
            <a:off x="981856" y="1394085"/>
            <a:ext cx="10515600" cy="1304145"/>
          </a:xfrm>
        </p:spPr>
        <p:txBody>
          <a:bodyPr>
            <a:noAutofit/>
          </a:bodyPr>
          <a:lstStyle/>
          <a:p>
            <a:r>
              <a:rPr lang="en-US" sz="2400" dirty="0"/>
              <a:t>A partner brand wants to know the most popular hashtags to use in their posts to reach the most people.</a:t>
            </a:r>
          </a:p>
          <a:p>
            <a:r>
              <a:rPr lang="en-US" sz="2400" dirty="0"/>
              <a:t>Highlighting the top 5 most commonly used hashtags on the Instagram.</a:t>
            </a:r>
          </a:p>
        </p:txBody>
      </p:sp>
      <p:pic>
        <p:nvPicPr>
          <p:cNvPr id="6" name="Picture 5">
            <a:extLst>
              <a:ext uri="{FF2B5EF4-FFF2-40B4-BE49-F238E27FC236}">
                <a16:creationId xmlns:a16="http://schemas.microsoft.com/office/drawing/2014/main" id="{5DBBE950-39AB-5DF1-6CDB-80574C21B846}"/>
              </a:ext>
            </a:extLst>
          </p:cNvPr>
          <p:cNvPicPr>
            <a:picLocks noChangeAspect="1"/>
          </p:cNvPicPr>
          <p:nvPr/>
        </p:nvPicPr>
        <p:blipFill>
          <a:blip r:embed="rId2"/>
          <a:stretch>
            <a:fillRect/>
          </a:stretch>
        </p:blipFill>
        <p:spPr>
          <a:xfrm>
            <a:off x="981856" y="3102965"/>
            <a:ext cx="10370356" cy="2893102"/>
          </a:xfrm>
          <a:prstGeom prst="rect">
            <a:avLst/>
          </a:prstGeom>
        </p:spPr>
      </p:pic>
    </p:spTree>
    <p:extLst>
      <p:ext uri="{BB962C8B-B14F-4D97-AF65-F5344CB8AC3E}">
        <p14:creationId xmlns:p14="http://schemas.microsoft.com/office/powerpoint/2010/main" val="1853977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CDE0F-0F58-A58C-B8CD-306D699F75F4}"/>
              </a:ext>
            </a:extLst>
          </p:cNvPr>
          <p:cNvSpPr>
            <a:spLocks noGrp="1"/>
          </p:cNvSpPr>
          <p:nvPr>
            <p:ph type="title"/>
          </p:nvPr>
        </p:nvSpPr>
        <p:spPr>
          <a:xfrm>
            <a:off x="839788" y="457200"/>
            <a:ext cx="10512424" cy="771993"/>
          </a:xfrm>
        </p:spPr>
        <p:txBody>
          <a:bodyPr>
            <a:normAutofit/>
          </a:bodyPr>
          <a:lstStyle/>
          <a:p>
            <a:pPr algn="ctr"/>
            <a:r>
              <a:rPr lang="en-US" sz="4000" b="1" dirty="0">
                <a:solidFill>
                  <a:srgbClr val="8492A6"/>
                </a:solidFill>
                <a:highlight>
                  <a:srgbClr val="FFFFFF"/>
                </a:highlight>
                <a:latin typeface="Manrope"/>
              </a:rPr>
              <a:t>Ad Campaign Launch</a:t>
            </a:r>
          </a:p>
        </p:txBody>
      </p:sp>
      <p:sp>
        <p:nvSpPr>
          <p:cNvPr id="4" name="Text Placeholder 3">
            <a:extLst>
              <a:ext uri="{FF2B5EF4-FFF2-40B4-BE49-F238E27FC236}">
                <a16:creationId xmlns:a16="http://schemas.microsoft.com/office/drawing/2014/main" id="{EA034177-C427-C04E-F581-3B1439F83D25}"/>
              </a:ext>
            </a:extLst>
          </p:cNvPr>
          <p:cNvSpPr>
            <a:spLocks noGrp="1"/>
          </p:cNvSpPr>
          <p:nvPr>
            <p:ph type="body" sz="half" idx="2"/>
          </p:nvPr>
        </p:nvSpPr>
        <p:spPr>
          <a:xfrm>
            <a:off x="981856" y="1394085"/>
            <a:ext cx="10515600" cy="1304145"/>
          </a:xfrm>
        </p:spPr>
        <p:txBody>
          <a:bodyPr>
            <a:noAutofit/>
          </a:bodyPr>
          <a:lstStyle/>
          <a:p>
            <a:r>
              <a:rPr lang="en-US" sz="2400" dirty="0"/>
              <a:t>The team wants to know the best day of the week to launch ads.</a:t>
            </a:r>
          </a:p>
          <a:p>
            <a:r>
              <a:rPr lang="en-US" sz="2400" dirty="0"/>
              <a:t>Highlighting the days of the week when most user resister on Instagram</a:t>
            </a:r>
          </a:p>
        </p:txBody>
      </p:sp>
      <p:pic>
        <p:nvPicPr>
          <p:cNvPr id="5" name="Picture 4">
            <a:extLst>
              <a:ext uri="{FF2B5EF4-FFF2-40B4-BE49-F238E27FC236}">
                <a16:creationId xmlns:a16="http://schemas.microsoft.com/office/drawing/2014/main" id="{6EB45541-14D9-322F-348A-EE260A95D2F8}"/>
              </a:ext>
            </a:extLst>
          </p:cNvPr>
          <p:cNvPicPr>
            <a:picLocks noChangeAspect="1"/>
          </p:cNvPicPr>
          <p:nvPr/>
        </p:nvPicPr>
        <p:blipFill>
          <a:blip r:embed="rId2"/>
          <a:stretch>
            <a:fillRect/>
          </a:stretch>
        </p:blipFill>
        <p:spPr>
          <a:xfrm>
            <a:off x="981855" y="3147286"/>
            <a:ext cx="10245777" cy="2818799"/>
          </a:xfrm>
          <a:prstGeom prst="rect">
            <a:avLst/>
          </a:prstGeom>
        </p:spPr>
      </p:pic>
    </p:spTree>
    <p:extLst>
      <p:ext uri="{BB962C8B-B14F-4D97-AF65-F5344CB8AC3E}">
        <p14:creationId xmlns:p14="http://schemas.microsoft.com/office/powerpoint/2010/main" val="2575377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B25A2-6757-686E-2DBF-E03B381CD14A}"/>
              </a:ext>
            </a:extLst>
          </p:cNvPr>
          <p:cNvSpPr>
            <a:spLocks noGrp="1"/>
          </p:cNvSpPr>
          <p:nvPr>
            <p:ph type="ctrTitle"/>
          </p:nvPr>
        </p:nvSpPr>
        <p:spPr/>
        <p:txBody>
          <a:bodyPr/>
          <a:lstStyle/>
          <a:p>
            <a:r>
              <a:rPr lang="en-US" b="1" dirty="0">
                <a:solidFill>
                  <a:srgbClr val="3C4858"/>
                </a:solidFill>
                <a:highlight>
                  <a:srgbClr val="FFFFFF"/>
                </a:highlight>
                <a:latin typeface="Manrope"/>
              </a:rPr>
              <a:t>B) Investor Metrics:</a:t>
            </a:r>
          </a:p>
        </p:txBody>
      </p:sp>
    </p:spTree>
    <p:extLst>
      <p:ext uri="{BB962C8B-B14F-4D97-AF65-F5344CB8AC3E}">
        <p14:creationId xmlns:p14="http://schemas.microsoft.com/office/powerpoint/2010/main" val="3447051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CDE0F-0F58-A58C-B8CD-306D699F75F4}"/>
              </a:ext>
            </a:extLst>
          </p:cNvPr>
          <p:cNvSpPr>
            <a:spLocks noGrp="1"/>
          </p:cNvSpPr>
          <p:nvPr>
            <p:ph type="title"/>
          </p:nvPr>
        </p:nvSpPr>
        <p:spPr>
          <a:xfrm>
            <a:off x="836612" y="247338"/>
            <a:ext cx="10512424" cy="682052"/>
          </a:xfrm>
        </p:spPr>
        <p:txBody>
          <a:bodyPr>
            <a:normAutofit/>
          </a:bodyPr>
          <a:lstStyle/>
          <a:p>
            <a:pPr algn="ctr"/>
            <a:r>
              <a:rPr lang="en-US" sz="4000" b="1" dirty="0">
                <a:solidFill>
                  <a:srgbClr val="8492A6"/>
                </a:solidFill>
                <a:highlight>
                  <a:srgbClr val="FFFFFF"/>
                </a:highlight>
                <a:latin typeface="Manrope"/>
              </a:rPr>
              <a:t>User Engagement</a:t>
            </a:r>
          </a:p>
        </p:txBody>
      </p:sp>
      <p:sp>
        <p:nvSpPr>
          <p:cNvPr id="4" name="Text Placeholder 3">
            <a:extLst>
              <a:ext uri="{FF2B5EF4-FFF2-40B4-BE49-F238E27FC236}">
                <a16:creationId xmlns:a16="http://schemas.microsoft.com/office/drawing/2014/main" id="{EA034177-C427-C04E-F581-3B1439F83D25}"/>
              </a:ext>
            </a:extLst>
          </p:cNvPr>
          <p:cNvSpPr>
            <a:spLocks noGrp="1"/>
          </p:cNvSpPr>
          <p:nvPr>
            <p:ph type="body" sz="half" idx="2"/>
          </p:nvPr>
        </p:nvSpPr>
        <p:spPr>
          <a:xfrm>
            <a:off x="836612" y="1025617"/>
            <a:ext cx="10515600" cy="1663908"/>
          </a:xfrm>
        </p:spPr>
        <p:txBody>
          <a:bodyPr>
            <a:noAutofit/>
          </a:bodyPr>
          <a:lstStyle/>
          <a:p>
            <a:r>
              <a:rPr lang="en-US" sz="2400" dirty="0"/>
              <a:t>Investors want to know if users are still active and posting on Instagram or if they are making fewer posts.</a:t>
            </a:r>
          </a:p>
          <a:p>
            <a:pPr marL="342900" indent="-342900">
              <a:buFont typeface="Arial" panose="020B0604020202020204" pitchFamily="34" charset="0"/>
              <a:buChar char="•"/>
            </a:pPr>
            <a:r>
              <a:rPr lang="en-US" sz="2400" dirty="0"/>
              <a:t>Highlighting the average number of posts per user on Instagram. </a:t>
            </a:r>
          </a:p>
          <a:p>
            <a:pPr marL="342900" indent="-342900">
              <a:buFont typeface="Arial" panose="020B0604020202020204" pitchFamily="34" charset="0"/>
              <a:buChar char="•"/>
            </a:pPr>
            <a:r>
              <a:rPr lang="en-US" sz="2400" dirty="0"/>
              <a:t>The total number of photos on Instagram divided by the total number of users.</a:t>
            </a:r>
          </a:p>
          <a:p>
            <a:pPr marL="342900" indent="-342900">
              <a:buFont typeface="Arial" panose="020B0604020202020204" pitchFamily="34" charset="0"/>
              <a:buChar char="•"/>
            </a:pPr>
            <a:endParaRPr lang="en-US" sz="2800" b="0" i="0" dirty="0">
              <a:solidFill>
                <a:srgbClr val="8492A6"/>
              </a:solidFill>
              <a:effectLst/>
              <a:highlight>
                <a:srgbClr val="FFFFFF"/>
              </a:highlight>
              <a:latin typeface="Manrope"/>
            </a:endParaRPr>
          </a:p>
          <a:p>
            <a:endParaRPr lang="en-US" sz="2400" dirty="0"/>
          </a:p>
          <a:p>
            <a:endParaRPr lang="en-US" sz="2400" dirty="0"/>
          </a:p>
        </p:txBody>
      </p:sp>
      <p:pic>
        <p:nvPicPr>
          <p:cNvPr id="6" name="Picture 5">
            <a:extLst>
              <a:ext uri="{FF2B5EF4-FFF2-40B4-BE49-F238E27FC236}">
                <a16:creationId xmlns:a16="http://schemas.microsoft.com/office/drawing/2014/main" id="{C8BDCEA8-6623-7A3B-BAD0-8D1886C0BEB4}"/>
              </a:ext>
            </a:extLst>
          </p:cNvPr>
          <p:cNvPicPr>
            <a:picLocks noChangeAspect="1"/>
          </p:cNvPicPr>
          <p:nvPr/>
        </p:nvPicPr>
        <p:blipFill>
          <a:blip r:embed="rId2"/>
          <a:stretch>
            <a:fillRect/>
          </a:stretch>
        </p:blipFill>
        <p:spPr>
          <a:xfrm>
            <a:off x="1018466" y="5000429"/>
            <a:ext cx="10155067" cy="1400370"/>
          </a:xfrm>
          <a:prstGeom prst="rect">
            <a:avLst/>
          </a:prstGeom>
        </p:spPr>
      </p:pic>
      <p:pic>
        <p:nvPicPr>
          <p:cNvPr id="8" name="Picture 7">
            <a:extLst>
              <a:ext uri="{FF2B5EF4-FFF2-40B4-BE49-F238E27FC236}">
                <a16:creationId xmlns:a16="http://schemas.microsoft.com/office/drawing/2014/main" id="{F5957233-F7A7-C700-79FE-50848623218B}"/>
              </a:ext>
            </a:extLst>
          </p:cNvPr>
          <p:cNvPicPr>
            <a:picLocks noChangeAspect="1"/>
          </p:cNvPicPr>
          <p:nvPr/>
        </p:nvPicPr>
        <p:blipFill>
          <a:blip r:embed="rId3"/>
          <a:stretch>
            <a:fillRect/>
          </a:stretch>
        </p:blipFill>
        <p:spPr>
          <a:xfrm>
            <a:off x="1018466" y="2714525"/>
            <a:ext cx="10155066" cy="1663908"/>
          </a:xfrm>
          <a:prstGeom prst="rect">
            <a:avLst/>
          </a:prstGeom>
        </p:spPr>
      </p:pic>
    </p:spTree>
    <p:extLst>
      <p:ext uri="{BB962C8B-B14F-4D97-AF65-F5344CB8AC3E}">
        <p14:creationId xmlns:p14="http://schemas.microsoft.com/office/powerpoint/2010/main" val="2501556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CDE0F-0F58-A58C-B8CD-306D699F75F4}"/>
              </a:ext>
            </a:extLst>
          </p:cNvPr>
          <p:cNvSpPr>
            <a:spLocks noGrp="1"/>
          </p:cNvSpPr>
          <p:nvPr>
            <p:ph type="title"/>
          </p:nvPr>
        </p:nvSpPr>
        <p:spPr>
          <a:xfrm>
            <a:off x="839788" y="457200"/>
            <a:ext cx="10512424" cy="771993"/>
          </a:xfrm>
        </p:spPr>
        <p:txBody>
          <a:bodyPr>
            <a:normAutofit/>
          </a:bodyPr>
          <a:lstStyle/>
          <a:p>
            <a:pPr algn="ctr"/>
            <a:r>
              <a:rPr lang="en-US" sz="4000" b="1" dirty="0">
                <a:solidFill>
                  <a:srgbClr val="8492A6"/>
                </a:solidFill>
                <a:highlight>
                  <a:srgbClr val="FFFFFF"/>
                </a:highlight>
                <a:latin typeface="Manrope"/>
              </a:rPr>
              <a:t>Bots &amp; Fake Accounts</a:t>
            </a:r>
          </a:p>
        </p:txBody>
      </p:sp>
      <p:sp>
        <p:nvSpPr>
          <p:cNvPr id="4" name="Text Placeholder 3">
            <a:extLst>
              <a:ext uri="{FF2B5EF4-FFF2-40B4-BE49-F238E27FC236}">
                <a16:creationId xmlns:a16="http://schemas.microsoft.com/office/drawing/2014/main" id="{EA034177-C427-C04E-F581-3B1439F83D25}"/>
              </a:ext>
            </a:extLst>
          </p:cNvPr>
          <p:cNvSpPr>
            <a:spLocks noGrp="1"/>
          </p:cNvSpPr>
          <p:nvPr>
            <p:ph type="body" sz="half" idx="2"/>
          </p:nvPr>
        </p:nvSpPr>
        <p:spPr>
          <a:xfrm>
            <a:off x="981856" y="1394085"/>
            <a:ext cx="10515600" cy="1304145"/>
          </a:xfrm>
        </p:spPr>
        <p:txBody>
          <a:bodyPr>
            <a:noAutofit/>
          </a:bodyPr>
          <a:lstStyle/>
          <a:p>
            <a:r>
              <a:rPr lang="en-US" sz="2400" dirty="0"/>
              <a:t>Investors want to know if the platform is crowded with fake and dummy accounts.</a:t>
            </a:r>
          </a:p>
          <a:p>
            <a:r>
              <a:rPr lang="en-US" sz="2400" dirty="0"/>
              <a:t>Highlighting fake users (potential bots) who have liked every single photo on the site, as this is not typically possible for a normal user.</a:t>
            </a:r>
          </a:p>
        </p:txBody>
      </p:sp>
      <p:pic>
        <p:nvPicPr>
          <p:cNvPr id="6" name="Picture 5">
            <a:extLst>
              <a:ext uri="{FF2B5EF4-FFF2-40B4-BE49-F238E27FC236}">
                <a16:creationId xmlns:a16="http://schemas.microsoft.com/office/drawing/2014/main" id="{55D3D360-0AA6-D6C9-3CA1-1C591562508D}"/>
              </a:ext>
            </a:extLst>
          </p:cNvPr>
          <p:cNvPicPr>
            <a:picLocks noChangeAspect="1"/>
          </p:cNvPicPr>
          <p:nvPr/>
        </p:nvPicPr>
        <p:blipFill>
          <a:blip r:embed="rId2"/>
          <a:stretch>
            <a:fillRect/>
          </a:stretch>
        </p:blipFill>
        <p:spPr>
          <a:xfrm>
            <a:off x="927966" y="2863122"/>
            <a:ext cx="10336067" cy="3762530"/>
          </a:xfrm>
          <a:prstGeom prst="rect">
            <a:avLst/>
          </a:prstGeom>
        </p:spPr>
      </p:pic>
    </p:spTree>
    <p:extLst>
      <p:ext uri="{BB962C8B-B14F-4D97-AF65-F5344CB8AC3E}">
        <p14:creationId xmlns:p14="http://schemas.microsoft.com/office/powerpoint/2010/main" val="505316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7A5C6-1607-81CF-F894-67CDEC2E53CC}"/>
              </a:ext>
            </a:extLst>
          </p:cNvPr>
          <p:cNvSpPr>
            <a:spLocks noGrp="1"/>
          </p:cNvSpPr>
          <p:nvPr>
            <p:ph type="title"/>
          </p:nvPr>
        </p:nvSpPr>
        <p:spPr>
          <a:xfrm>
            <a:off x="838200" y="365125"/>
            <a:ext cx="10515600" cy="894049"/>
          </a:xfrm>
        </p:spPr>
        <p:txBody>
          <a:bodyPr/>
          <a:lstStyle/>
          <a:p>
            <a:pPr algn="ctr"/>
            <a:r>
              <a:rPr lang="en-US" sz="4000" b="1" dirty="0">
                <a:solidFill>
                  <a:srgbClr val="8492A6"/>
                </a:solidFill>
                <a:highlight>
                  <a:srgbClr val="FFFFFF"/>
                </a:highlight>
                <a:latin typeface="Manrope"/>
              </a:rPr>
              <a:t>Insights</a:t>
            </a:r>
          </a:p>
        </p:txBody>
      </p:sp>
      <p:sp>
        <p:nvSpPr>
          <p:cNvPr id="3" name="Content Placeholder 2">
            <a:extLst>
              <a:ext uri="{FF2B5EF4-FFF2-40B4-BE49-F238E27FC236}">
                <a16:creationId xmlns:a16="http://schemas.microsoft.com/office/drawing/2014/main" id="{F0267689-5E99-2AA3-F857-33674CCBF7B8}"/>
              </a:ext>
            </a:extLst>
          </p:cNvPr>
          <p:cNvSpPr>
            <a:spLocks noGrp="1"/>
          </p:cNvSpPr>
          <p:nvPr>
            <p:ph idx="1"/>
          </p:nvPr>
        </p:nvSpPr>
        <p:spPr>
          <a:xfrm>
            <a:off x="838200" y="1454046"/>
            <a:ext cx="10515600" cy="4722917"/>
          </a:xfrm>
        </p:spPr>
        <p:txBody>
          <a:bodyPr/>
          <a:lstStyle/>
          <a:p>
            <a:pPr marL="0" indent="0">
              <a:buNone/>
            </a:pPr>
            <a:r>
              <a:rPr lang="en-US" dirty="0"/>
              <a:t>From these project I get to know the following:</a:t>
            </a:r>
          </a:p>
          <a:p>
            <a:pPr>
              <a:buClr>
                <a:schemeClr val="tx1"/>
              </a:buClr>
              <a:buFont typeface="Calibri" panose="020F0502020204030204" pitchFamily="34" charset="0"/>
              <a:buChar char="•"/>
            </a:pPr>
            <a:r>
              <a:rPr lang="en-US" dirty="0"/>
              <a:t>The top 5 oldest users of Instagram app</a:t>
            </a:r>
          </a:p>
          <a:p>
            <a:pPr>
              <a:buClr>
                <a:schemeClr val="tx1"/>
              </a:buClr>
              <a:buFont typeface="Calibri" panose="020F0502020204030204" pitchFamily="34" charset="0"/>
              <a:buChar char="•"/>
            </a:pPr>
            <a:r>
              <a:rPr lang="en-US" dirty="0"/>
              <a:t>The list of inactive users of Instagram</a:t>
            </a:r>
          </a:p>
          <a:p>
            <a:pPr>
              <a:buClr>
                <a:schemeClr val="tx1"/>
              </a:buClr>
              <a:buFont typeface="Calibri" panose="020F0502020204030204" pitchFamily="34" charset="0"/>
              <a:buChar char="•"/>
            </a:pPr>
            <a:r>
              <a:rPr lang="en-US" dirty="0"/>
              <a:t>The name of the winner for the most liked photo of Instagram contest</a:t>
            </a:r>
          </a:p>
          <a:p>
            <a:pPr>
              <a:buClr>
                <a:schemeClr val="tx1"/>
              </a:buClr>
              <a:buFont typeface="Calibri" panose="020F0502020204030204" pitchFamily="34" charset="0"/>
              <a:buChar char="•"/>
            </a:pPr>
            <a:r>
              <a:rPr lang="en-US" dirty="0"/>
              <a:t>Top 5 commonly used hashtags of Instagram</a:t>
            </a:r>
          </a:p>
          <a:p>
            <a:pPr>
              <a:buClr>
                <a:schemeClr val="tx1"/>
              </a:buClr>
              <a:buFont typeface="Calibri" panose="020F0502020204030204" pitchFamily="34" charset="0"/>
              <a:buChar char="•"/>
            </a:pPr>
            <a:r>
              <a:rPr lang="en-US" dirty="0"/>
              <a:t>The best day of the week to launch an ad campaign</a:t>
            </a:r>
          </a:p>
          <a:p>
            <a:pPr>
              <a:buClr>
                <a:schemeClr val="tx1"/>
              </a:buClr>
              <a:buFont typeface="Calibri" panose="020F0502020204030204" pitchFamily="34" charset="0"/>
              <a:buChar char="•"/>
            </a:pPr>
            <a:r>
              <a:rPr lang="en-US" dirty="0"/>
              <a:t>Average number of post per user on Instagram</a:t>
            </a:r>
          </a:p>
          <a:p>
            <a:pPr>
              <a:buClr>
                <a:schemeClr val="tx1"/>
              </a:buClr>
              <a:buFont typeface="Calibri" panose="020F0502020204030204" pitchFamily="34" charset="0"/>
              <a:buChar char="•"/>
            </a:pPr>
            <a:r>
              <a:rPr lang="en-US" dirty="0"/>
              <a:t>Countering the fake users of Instagram who liked every single photos of Instagram</a:t>
            </a:r>
          </a:p>
          <a:p>
            <a:pPr>
              <a:buClr>
                <a:schemeClr val="tx1"/>
              </a:buClr>
              <a:buFont typeface="Calibri" panose="020F0502020204030204" pitchFamily="34" charset="0"/>
              <a:buChar char="•"/>
            </a:pPr>
            <a:endParaRPr lang="en-US" dirty="0"/>
          </a:p>
          <a:p>
            <a:pPr>
              <a:buClr>
                <a:schemeClr val="tx1"/>
              </a:buClr>
              <a:buFont typeface="Calibri" panose="020F0502020204030204" pitchFamily="34" charset="0"/>
              <a:buChar char="•"/>
            </a:pPr>
            <a:endParaRPr lang="en-US" dirty="0"/>
          </a:p>
        </p:txBody>
      </p:sp>
    </p:spTree>
    <p:extLst>
      <p:ext uri="{BB962C8B-B14F-4D97-AF65-F5344CB8AC3E}">
        <p14:creationId xmlns:p14="http://schemas.microsoft.com/office/powerpoint/2010/main" val="1746826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869A7-3A8A-CF7E-688A-1168D9CF1F41}"/>
              </a:ext>
            </a:extLst>
          </p:cNvPr>
          <p:cNvSpPr>
            <a:spLocks noGrp="1"/>
          </p:cNvSpPr>
          <p:nvPr>
            <p:ph type="title"/>
          </p:nvPr>
        </p:nvSpPr>
        <p:spPr/>
        <p:txBody>
          <a:bodyPr/>
          <a:lstStyle/>
          <a:p>
            <a:pPr algn="ctr"/>
            <a:r>
              <a:rPr lang="en-US" sz="4000" b="1" dirty="0">
                <a:solidFill>
                  <a:srgbClr val="8492A6"/>
                </a:solidFill>
                <a:highlight>
                  <a:srgbClr val="FFFFFF"/>
                </a:highlight>
                <a:latin typeface="Manrope"/>
              </a:rPr>
              <a:t>Result</a:t>
            </a:r>
          </a:p>
        </p:txBody>
      </p:sp>
      <p:sp>
        <p:nvSpPr>
          <p:cNvPr id="3" name="Content Placeholder 2">
            <a:extLst>
              <a:ext uri="{FF2B5EF4-FFF2-40B4-BE49-F238E27FC236}">
                <a16:creationId xmlns:a16="http://schemas.microsoft.com/office/drawing/2014/main" id="{C0C8FA02-F4BC-2675-B603-20230AAB7384}"/>
              </a:ext>
            </a:extLst>
          </p:cNvPr>
          <p:cNvSpPr>
            <a:spLocks noGrp="1"/>
          </p:cNvSpPr>
          <p:nvPr>
            <p:ph idx="1"/>
          </p:nvPr>
        </p:nvSpPr>
        <p:spPr/>
        <p:txBody>
          <a:bodyPr/>
          <a:lstStyle/>
          <a:p>
            <a:pPr marL="0" indent="0">
              <a:buNone/>
            </a:pPr>
            <a:r>
              <a:rPr lang="en-US" dirty="0"/>
              <a:t>This project gave me an idea of how an analyst and business works on real time data. It gave me an understanding how analysis works and how to get insights from any given data.</a:t>
            </a:r>
          </a:p>
        </p:txBody>
      </p:sp>
    </p:spTree>
    <p:extLst>
      <p:ext uri="{BB962C8B-B14F-4D97-AF65-F5344CB8AC3E}">
        <p14:creationId xmlns:p14="http://schemas.microsoft.com/office/powerpoint/2010/main" val="1618698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83763-11F5-F262-BEF6-EFE1D0F9C508}"/>
              </a:ext>
            </a:extLst>
          </p:cNvPr>
          <p:cNvSpPr>
            <a:spLocks noGrp="1"/>
          </p:cNvSpPr>
          <p:nvPr>
            <p:ph type="ctrTitle"/>
          </p:nvPr>
        </p:nvSpPr>
        <p:spPr/>
        <p:txBody>
          <a:bodyPr/>
          <a:lstStyle/>
          <a:p>
            <a:r>
              <a:rPr lang="en-US" b="1" dirty="0">
                <a:latin typeface="Arial Black" panose="020B0A04020102020204" pitchFamily="34" charset="0"/>
              </a:rPr>
              <a:t>THANK YOU</a:t>
            </a:r>
          </a:p>
        </p:txBody>
      </p:sp>
    </p:spTree>
    <p:extLst>
      <p:ext uri="{BB962C8B-B14F-4D97-AF65-F5344CB8AC3E}">
        <p14:creationId xmlns:p14="http://schemas.microsoft.com/office/powerpoint/2010/main" val="40659847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592</Words>
  <Application>Microsoft Office PowerPoint</Application>
  <PresentationFormat>Widescreen</PresentationFormat>
  <Paragraphs>47</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Black</vt:lpstr>
      <vt:lpstr>Calibri</vt:lpstr>
      <vt:lpstr>Calibri Light</vt:lpstr>
      <vt:lpstr>Manrope</vt:lpstr>
      <vt:lpstr>Office Theme</vt:lpstr>
      <vt:lpstr>Instagram User Analytics</vt:lpstr>
      <vt:lpstr>Project Description</vt:lpstr>
      <vt:lpstr>Approach</vt:lpstr>
      <vt:lpstr>A) Marketing Analysis</vt:lpstr>
      <vt:lpstr>Loyal User Reward</vt:lpstr>
      <vt:lpstr>Inactive User Engagement</vt:lpstr>
      <vt:lpstr>Contest Winner Declaration</vt:lpstr>
      <vt:lpstr>Hashtag Research</vt:lpstr>
      <vt:lpstr>Ad Campaign Launch</vt:lpstr>
      <vt:lpstr>B) Investor Metrics:</vt:lpstr>
      <vt:lpstr>User Engagement</vt:lpstr>
      <vt:lpstr>Bots &amp; Fake Accounts</vt:lpstr>
      <vt:lpstr>Insights</vt:lpstr>
      <vt:lpstr>Result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Amrita Saha</dc:creator>
  <cp:lastModifiedBy>Amrita Saha</cp:lastModifiedBy>
  <cp:revision>11</cp:revision>
  <dcterms:created xsi:type="dcterms:W3CDTF">2024-06-13T06:16:53Z</dcterms:created>
  <dcterms:modified xsi:type="dcterms:W3CDTF">2024-06-14T10:24:31Z</dcterms:modified>
</cp:coreProperties>
</file>